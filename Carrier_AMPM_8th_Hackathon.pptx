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2286000"/>
            <a:ext cx="6583680" cy="5577840"/>
          </a:xfrm>
          <a:prstGeom prst="ellipse">
            <a:avLst/>
          </a:prstGeom>
          <a:solidFill>
            <a:srgbClr val="4D7CFE">
              <a:alpha val="28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3108960"/>
            <a:ext cx="6949440" cy="566928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011680"/>
            <a:ext cx="6217920" cy="4937760"/>
          </a:xfrm>
          <a:prstGeom prst="ellipse">
            <a:avLst/>
          </a:prstGeom>
          <a:solidFill>
            <a:srgbClr val="E056FD">
              <a:alpha val="20000"/>
            </a:srgbClr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389120"/>
            <a:ext cx="7223760" cy="4023360"/>
          </a:xfrm>
          <a:prstGeom prst="ellipse">
            <a:avLst/>
          </a:prstGeom>
          <a:solidFill>
            <a:srgbClr val="40E7D1">
              <a:alpha val="14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38912"/>
            <a:ext cx="234086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AM:PM 8TH HACKATHON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325880"/>
            <a:ext cx="6766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spc="-16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Carrier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450592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커리어를 캐리어에 담다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31821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D5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경험을 기록하고, AI로 해석해, 다음 지원까지 이어주는 커리어 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133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7305A">
              <a:alpha val="82000"/>
            </a:srgbClr>
          </a:solidFill>
          <a:ln w="12700">
            <a:solidFill>
              <a:srgbClr val="17305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414223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 DATA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194560" y="413308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2C1E59">
              <a:alpha val="82000"/>
            </a:srgbClr>
          </a:solidFill>
          <a:ln w="12700">
            <a:solidFill>
              <a:srgbClr val="2C1E5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9424" y="41422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9B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AI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3639312" y="413308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3A1F55">
              <a:alpha val="82000"/>
            </a:srgbClr>
          </a:solidFill>
          <a:ln w="12700">
            <a:solidFill>
              <a:srgbClr val="3A1F5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94176" y="4142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3B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9197035" y="1481328"/>
            <a:ext cx="808330" cy="608076"/>
          </a:xfrm>
          <a:prstGeom prst="roundRect">
            <a:avLst>
              <a:gd name="adj" fmla="val 12030"/>
            </a:avLst>
          </a:prstGeom>
          <a:solidFill>
            <a:srgbClr val="FFFFFF">
              <a:alpha val="0"/>
            </a:srgbClr>
          </a:solidFill>
          <a:ln w="279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929384"/>
            <a:ext cx="2377440" cy="2432304"/>
          </a:xfrm>
          <a:prstGeom prst="roundRect">
            <a:avLst>
              <a:gd name="adj" fmla="val 6154"/>
            </a:avLst>
          </a:prstGeom>
          <a:solidFill>
            <a:srgbClr val="10264B">
              <a:alpha val="85000"/>
            </a:srgbClr>
          </a:solidFill>
          <a:ln w="292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73261" y="1961388"/>
            <a:ext cx="0" cy="240030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29139" y="1961388"/>
            <a:ext cx="0" cy="240030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697773" y="4169664"/>
            <a:ext cx="261518" cy="261518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3109" y="4169664"/>
            <a:ext cx="261518" cy="26151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88552" y="246888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6080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8191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CARRIER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926080"/>
            <a:ext cx="6583680" cy="5577840"/>
          </a:xfrm>
          <a:prstGeom prst="ellipse">
            <a:avLst/>
          </a:prstGeom>
          <a:solidFill>
            <a:srgbClr val="40E7D1">
              <a:alpha val="65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-3108960"/>
            <a:ext cx="7132320" cy="548640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1645920"/>
            <a:ext cx="5120640" cy="4389120"/>
          </a:xfrm>
          <a:prstGeom prst="ellipse">
            <a:avLst/>
          </a:prstGeom>
          <a:solidFill>
            <a:srgbClr val="4D7CFE">
              <a:alpha val="45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WHY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경험은 쌓이는데, 지원할 때마다 다시 찾습니다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커리어 정보는 여러 곳에 흩어지고, 기억은 시간이 지날수록 맥락을 잃습니다.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8A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30352" y="1938528"/>
            <a:ext cx="2587752" cy="2258568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21408"/>
            <a:ext cx="384048" cy="384048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21031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기록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96896"/>
            <a:ext cx="21854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자격증, 대외활동, 논문, 수상, 프로젝트가 파일·메모·링크에 분산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3419856" y="1938528"/>
            <a:ext cx="2587752" cy="2258568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02736" y="212140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1031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잊힌 기여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621024" y="2596896"/>
            <a:ext cx="21854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프로젝트에서 내가 어떤 코드를 작성했는지 다시 설명하기 어려움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309360" y="1938528"/>
            <a:ext cx="2587752" cy="2258568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121408"/>
            <a:ext cx="384048" cy="384048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21031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비교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2596896"/>
            <a:ext cx="21854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기업과 직무가 원하는 역량 대비 내 강점과 공백을 알기 어려움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9198864" y="1938528"/>
            <a:ext cx="2587752" cy="2258568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81744" y="2121408"/>
            <a:ext cx="384048" cy="384048"/>
          </a:xfrm>
          <a:prstGeom prst="ellipse">
            <a:avLst/>
          </a:prstGeom>
          <a:solidFill>
            <a:srgbClr val="E056FD"/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81744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893808" y="210312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작성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400032" y="2596896"/>
            <a:ext cx="21854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지원할 때마다 경험을 다시 꺼내 자기소개서 문장으로 재조립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87552" y="4773168"/>
            <a:ext cx="10222992" cy="868680"/>
          </a:xfrm>
          <a:prstGeom prst="roundRect">
            <a:avLst>
              <a:gd name="adj" fmla="val 18947"/>
            </a:avLst>
          </a:prstGeom>
          <a:solidFill>
            <a:srgbClr val="101D38"/>
          </a:solidFill>
          <a:ln w="12700">
            <a:solidFill>
              <a:srgbClr val="101D3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61872" y="49834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핵심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578608" y="4855464"/>
            <a:ext cx="8156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경험이 없는 것이 아니라, 경험을 꺼내 쓰는 연결 구조가 없습니다.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2286000"/>
            <a:ext cx="6583680" cy="5577840"/>
          </a:xfrm>
          <a:prstGeom prst="ellipse">
            <a:avLst/>
          </a:prstGeom>
          <a:solidFill>
            <a:srgbClr val="4D7CFE">
              <a:alpha val="255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3108960"/>
            <a:ext cx="6949440" cy="5669280"/>
          </a:xfrm>
          <a:prstGeom prst="ellipse">
            <a:avLst/>
          </a:prstGeom>
          <a:solidFill>
            <a:srgbClr val="8B5CF6">
              <a:alpha val="215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011680"/>
            <a:ext cx="6217920" cy="4937760"/>
          </a:xfrm>
          <a:prstGeom prst="ellipse">
            <a:avLst/>
          </a:prstGeom>
          <a:solidFill>
            <a:srgbClr val="E056FD">
              <a:alpha val="17500"/>
            </a:srgbClr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389120"/>
            <a:ext cx="7223760" cy="4023360"/>
          </a:xfrm>
          <a:prstGeom prst="ellipse">
            <a:avLst/>
          </a:prstGeom>
          <a:solidFill>
            <a:srgbClr val="40E7D1">
              <a:alpha val="115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IDEA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커리어를 담고, 필요할 때 꺼내 쓰는 Carrier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C2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여행의 짐을 캐리어에 정리하듯 커리어의 증거와 맥락을 하나의 데이터로 정리합니다.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7383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28216" y="1993392"/>
            <a:ext cx="932688" cy="642823"/>
          </a:xfrm>
          <a:prstGeom prst="roundRect">
            <a:avLst>
              <a:gd name="adj" fmla="val 11380"/>
            </a:avLst>
          </a:prstGeom>
          <a:solidFill>
            <a:srgbClr val="FFFFFF">
              <a:alpha val="0"/>
            </a:srgbClr>
          </a:solidFill>
          <a:ln w="279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67051"/>
            <a:ext cx="2743200" cy="2571293"/>
          </a:xfrm>
          <a:prstGeom prst="roundRect">
            <a:avLst>
              <a:gd name="adj" fmla="val 5690"/>
            </a:avLst>
          </a:prstGeom>
          <a:solidFill>
            <a:srgbClr val="10264B">
              <a:alpha val="85000"/>
            </a:srgbClr>
          </a:solidFill>
          <a:ln w="292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0784" y="2500884"/>
            <a:ext cx="0" cy="253746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688336" y="2500884"/>
            <a:ext cx="0" cy="253746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52144" y="4835347"/>
            <a:ext cx="301752" cy="301752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35224" y="4835347"/>
            <a:ext cx="301752" cy="3017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1821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97680" y="1965960"/>
            <a:ext cx="457200" cy="457200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56048" y="19385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193852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CC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프로젝트부터 논문·수상까지 한곳에 구조화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526280" y="2468880"/>
            <a:ext cx="0" cy="530352"/>
          </a:xfrm>
          <a:prstGeom prst="line">
            <a:avLst/>
          </a:prstGeom>
          <a:noFill/>
          <a:ln w="17780">
            <a:solidFill>
              <a:srgbClr val="355077"/>
            </a:solidFill>
            <a:prstDash val="dash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297680" y="3118104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56048" y="30906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해석하다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30906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CC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기업·직무·GitHub 데이터를 AI가 근거 중심으로 분석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26280" y="3621024"/>
            <a:ext cx="0" cy="530352"/>
          </a:xfrm>
          <a:prstGeom prst="line">
            <a:avLst/>
          </a:prstGeom>
          <a:noFill/>
          <a:ln w="17780">
            <a:solidFill>
              <a:srgbClr val="355077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297680" y="4270248"/>
            <a:ext cx="457200" cy="457200"/>
          </a:xfrm>
          <a:prstGeom prst="ellipse">
            <a:avLst/>
          </a:prstGeom>
          <a:solidFill>
            <a:srgbClr val="E056FD"/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976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56048" y="42428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꺼내 쓰다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327648" y="424281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CCA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분석된 경험을 지원서 형식과 톤에 맞춰 재구성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279392" y="5522976"/>
            <a:ext cx="690372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98848" y="560527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CAREER DATA  →  MANY APPLICATIONS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926080"/>
            <a:ext cx="6583680" cy="5577840"/>
          </a:xfrm>
          <a:prstGeom prst="ellipse">
            <a:avLst/>
          </a:prstGeom>
          <a:solidFill>
            <a:srgbClr val="40E7D1">
              <a:alpha val="55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-3108960"/>
            <a:ext cx="7132320" cy="548640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1645920"/>
            <a:ext cx="5120640" cy="4389120"/>
          </a:xfrm>
          <a:prstGeom prst="ellipse">
            <a:avLst/>
          </a:prstGeom>
          <a:solidFill>
            <a:srgbClr val="4D7CFE">
              <a:alpha val="4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SOLUTION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기록하면, 분석과 지원까지 이어집니다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Carrier는 단절된 기능이 아니라 하나의 커리어 데이터 흐름으로 작동합니다.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8A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21792" y="2029968"/>
            <a:ext cx="2487168" cy="2852928"/>
          </a:xfrm>
          <a:prstGeom prst="roundRect">
            <a:avLst>
              <a:gd name="adj" fmla="val 7353"/>
            </a:avLst>
          </a:prstGeom>
          <a:solidFill>
            <a:srgbClr val="EDF4FF"/>
          </a:solidFill>
          <a:ln w="12700">
            <a:solidFill>
              <a:srgbClr val="4D7CF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49424"/>
            <a:ext cx="475488" cy="475488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9077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기록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29584"/>
            <a:ext cx="2084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유형의 스펙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+수상·결과물 연결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63824" y="3246120"/>
            <a:ext cx="347472" cy="384048"/>
          </a:xfrm>
          <a:prstGeom prst="chevron">
            <a:avLst/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11296" y="2029968"/>
            <a:ext cx="2487168" cy="2852928"/>
          </a:xfrm>
          <a:prstGeom prst="roundRect">
            <a:avLst>
              <a:gd name="adj" fmla="val 7353"/>
            </a:avLst>
          </a:prstGeom>
          <a:solidFill>
            <a:srgbClr val="EAFBF5"/>
          </a:solidFill>
          <a:ln w="12700">
            <a:solidFill>
              <a:srgbClr val="40E7D1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2249424"/>
            <a:ext cx="475488" cy="475488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2464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712464" y="29077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비교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712464" y="3529584"/>
            <a:ext cx="2084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기업·직무 요구와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+강점·공백 분석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3328" y="3246120"/>
            <a:ext cx="347472" cy="384048"/>
          </a:xfrm>
          <a:prstGeom prst="chevron">
            <a:avLst/>
          </a:prstGeom>
          <a:solidFill>
            <a:srgbClr val="40E7D1">
              <a:alpha val="90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029968"/>
            <a:ext cx="2487168" cy="2852928"/>
          </a:xfrm>
          <a:prstGeom prst="roundRect">
            <a:avLst>
              <a:gd name="adj" fmla="val 7353"/>
            </a:avLst>
          </a:prstGeom>
          <a:solidFill>
            <a:srgbClr val="F1EDFF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249424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29077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복원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3529584"/>
            <a:ext cx="2084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커밋으로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+본인 역할 재발견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42832" y="3246120"/>
            <a:ext cx="347472" cy="384048"/>
          </a:xfrm>
          <a:prstGeom prst="chevron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90304" y="2029968"/>
            <a:ext cx="2487168" cy="2852928"/>
          </a:xfrm>
          <a:prstGeom prst="roundRect">
            <a:avLst>
              <a:gd name="adj" fmla="val 7353"/>
            </a:avLst>
          </a:prstGeom>
          <a:solidFill>
            <a:srgbClr val="FFF0FB"/>
          </a:solidFill>
          <a:ln w="12700">
            <a:solidFill>
              <a:srgbClr val="E056FD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91472" y="2249424"/>
            <a:ext cx="475488" cy="475488"/>
          </a:xfrm>
          <a:prstGeom prst="ellipse">
            <a:avLst/>
          </a:prstGeom>
          <a:solidFill>
            <a:srgbClr val="E056FD"/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91472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29077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지원서 작성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491472" y="3529584"/>
            <a:ext cx="2084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경험을 골라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+형식·톤 맞춤 작성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16552" y="5413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01D38"/>
          </a:solidFill>
          <a:ln w="12700">
            <a:solidFill>
              <a:srgbClr val="101D38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71416" y="542239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커리어 데이터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2852928" y="5806440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지원이 생겨도 경험을 처음부터 다시 정리하지 않습니다.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FEATURE 1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스펙을 한곳에서 관리하는 커리어 대시보드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단위를 표준화하면서도 활동별로 필요한 정보는 다르게 받습니다.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8A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995160" cy="4096512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1316736" cy="4096512"/>
          </a:xfrm>
          <a:prstGeom prst="roundRect">
            <a:avLst>
              <a:gd name="adj" fmla="val 12500"/>
            </a:avLst>
          </a:prstGeom>
          <a:solidFill>
            <a:srgbClr val="F2F6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07568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D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" y="2688336"/>
            <a:ext cx="1042416" cy="338328"/>
          </a:xfrm>
          <a:prstGeom prst="roundRect">
            <a:avLst>
              <a:gd name="adj" fmla="val 21622"/>
            </a:avLst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0662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4D7C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76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8211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76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분석</a:t>
            </a:r>
            <a:endParaRPr lang="en-US" sz="76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3308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작성</a:t>
            </a:r>
            <a:endParaRPr lang="en-US" sz="76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121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커리어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139696" y="2724912"/>
            <a:ext cx="1088136" cy="713232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2862072"/>
            <a:ext cx="219456" cy="219456"/>
          </a:xfrm>
          <a:prstGeom prst="ellipse">
            <a:avLst/>
          </a:prstGeom>
          <a:solidFill>
            <a:srgbClr val="FFD76A"/>
          </a:solidFill>
          <a:ln w="12700">
            <a:solidFill>
              <a:srgbClr val="FFD7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23744" y="27980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D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23744" y="3063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수상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3401568" y="2724912"/>
            <a:ext cx="1088136" cy="713232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2152" y="2862072"/>
            <a:ext cx="219456" cy="219456"/>
          </a:xfrm>
          <a:prstGeom prst="ellipse">
            <a:avLst/>
          </a:prstGeom>
          <a:solidFill>
            <a:srgbClr val="FFB35C"/>
          </a:solidFill>
          <a:ln w="12700">
            <a:solidFill>
              <a:srgbClr val="FFB3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85616" y="27980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D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85616" y="3063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4663440" y="2724912"/>
            <a:ext cx="1088136" cy="713232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64024" y="2862072"/>
            <a:ext cx="219456" cy="219456"/>
          </a:xfrm>
          <a:prstGeom prst="ellipse">
            <a:avLst/>
          </a:prstGeom>
          <a:solidFill>
            <a:srgbClr val="73F2B7"/>
          </a:solidFill>
          <a:ln w="12700">
            <a:solidFill>
              <a:srgbClr val="73F2B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488" y="27980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D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3063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5925312" y="2724912"/>
            <a:ext cx="1088136" cy="713232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5896" y="2862072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27980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D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063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대외활동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2148840" y="3858768"/>
            <a:ext cx="142646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58568" y="4005072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FFF0BE"/>
          </a:solidFill>
          <a:ln w="12700">
            <a:solidFill>
              <a:srgbClr val="FFF0B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13432" y="401421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669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수상 · 프로젝트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2258568" y="446227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공모전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2258568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등록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785616" y="3858768"/>
            <a:ext cx="142646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5344" y="4005072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0208" y="401421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482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</a:t>
            </a:r>
            <a:endParaRPr lang="en-US" sz="840" dirty="0"/>
          </a:p>
        </p:txBody>
      </p:sp>
      <p:sp>
        <p:nvSpPr>
          <p:cNvPr id="39" name="Text 37"/>
          <p:cNvSpPr txBox="1"/>
          <p:nvPr/>
        </p:nvSpPr>
        <p:spPr>
          <a:xfrm>
            <a:off x="3895344" y="446227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SQLD</a:t>
            </a:r>
            <a:endParaRPr lang="en-US" sz="920" dirty="0"/>
          </a:p>
        </p:txBody>
      </p:sp>
      <p:sp>
        <p:nvSpPr>
          <p:cNvPr id="40" name="Text 38"/>
          <p:cNvSpPr txBox="1"/>
          <p:nvPr/>
        </p:nvSpPr>
        <p:spPr>
          <a:xfrm>
            <a:off x="3895344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등록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422392" y="3858768"/>
            <a:ext cx="142646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32120" y="4005072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586984" y="401421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D7C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대외활동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5532120" y="446227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해커톤 8기</a:t>
            </a:r>
            <a:endParaRPr lang="en-US" sz="92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등록</a:t>
            </a:r>
            <a:endParaRPr lang="en-US" sz="650" dirty="0"/>
          </a:p>
        </p:txBody>
      </p:sp>
      <p:sp>
        <p:nvSpPr>
          <p:cNvPr id="46" name="Text 44"/>
          <p:cNvSpPr txBox="1"/>
          <p:nvPr/>
        </p:nvSpPr>
        <p:spPr>
          <a:xfrm>
            <a:off x="8065008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 스펙 유형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8083296" y="2359152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· 대외활동 · 논문 · 어학연수 · 멘토링 · 프로젝트 · 연락처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028432" y="3063240"/>
            <a:ext cx="35661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11312" y="3264408"/>
            <a:ext cx="73152" cy="365760"/>
          </a:xfrm>
          <a:prstGeom prst="roundRect">
            <a:avLst>
              <a:gd name="adj" fmla="val 50000"/>
            </a:avLst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12480" y="322783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연결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3721608"/>
            <a:ext cx="3163824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대외활동에서 만든 프로젝트·논문을 별도 스펙으로 생성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8028432" y="3959352"/>
            <a:ext cx="35661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11312" y="4160520"/>
            <a:ext cx="73152" cy="365760"/>
          </a:xfrm>
          <a:prstGeom prst="roundRect">
            <a:avLst>
              <a:gd name="adj" fmla="val 50000"/>
            </a:avLst>
          </a:prstGeom>
          <a:solidFill>
            <a:srgbClr val="FFD76A"/>
          </a:solidFill>
          <a:ln w="12700">
            <a:solidFill>
              <a:srgbClr val="FFD76A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12480" y="4123944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수상 분리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8229600" y="4617720"/>
            <a:ext cx="3163824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수상과 결과물 수상을 각각 기록해 근거를 정확히 유지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8028432" y="4855464"/>
            <a:ext cx="35661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11312" y="5056632"/>
            <a:ext cx="73152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12480" y="50200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최근순 탐색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8229600" y="5513832"/>
            <a:ext cx="3163824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활동을 최신순·유형별·수상별로 빠르게 확인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2286000"/>
            <a:ext cx="6583680" cy="5577840"/>
          </a:xfrm>
          <a:prstGeom prst="ellipse">
            <a:avLst/>
          </a:prstGeom>
          <a:solidFill>
            <a:srgbClr val="4D7CFE">
              <a:alpha val="245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3108960"/>
            <a:ext cx="6949440" cy="5669280"/>
          </a:xfrm>
          <a:prstGeom prst="ellipse">
            <a:avLst/>
          </a:prstGeom>
          <a:solidFill>
            <a:srgbClr val="8B5CF6">
              <a:alpha val="205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011680"/>
            <a:ext cx="6217920" cy="4937760"/>
          </a:xfrm>
          <a:prstGeom prst="ellipse">
            <a:avLst/>
          </a:prstGeom>
          <a:solidFill>
            <a:srgbClr val="E056FD">
              <a:alpha val="16500"/>
            </a:srgbClr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389120"/>
            <a:ext cx="7223760" cy="4023360"/>
          </a:xfrm>
          <a:prstGeom prst="ellipse">
            <a:avLst/>
          </a:prstGeom>
          <a:solidFill>
            <a:srgbClr val="40E7D1">
              <a:alpha val="105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FEATURE 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스펙과 기업·직무 요구를 AI로 비교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C2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기업명, 목표 직무, 채용공고를 입력하면 강점·부족한 스펙·준비 행동을 구조화합니다.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7383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816352" cy="3154680"/>
          </a:xfrm>
          <a:prstGeom prst="roundRect">
            <a:avLst>
              <a:gd name="adj" fmla="val 4545"/>
            </a:avLst>
          </a:prstGeom>
          <a:solidFill>
            <a:srgbClr val="10213F">
              <a:alpha val="93000"/>
            </a:srgbClr>
          </a:solidFill>
          <a:ln w="12700">
            <a:solidFill>
              <a:srgbClr val="263B6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94560"/>
            <a:ext cx="384048" cy="384048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2176272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목표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670048"/>
            <a:ext cx="241401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기업명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직무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구분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채용공고 상세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639312" y="3355848"/>
            <a:ext cx="347472" cy="384048"/>
          </a:xfrm>
          <a:prstGeom prst="chevron">
            <a:avLst/>
          </a:prstGeom>
          <a:solidFill>
            <a:srgbClr val="40E7D1">
              <a:alpha val="90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87952" y="2340864"/>
            <a:ext cx="2999232" cy="2487168"/>
          </a:xfrm>
          <a:prstGeom prst="roundRect">
            <a:avLst>
              <a:gd name="adj" fmla="val 7353"/>
            </a:avLst>
          </a:prstGeom>
          <a:solidFill>
            <a:srgbClr val="102C48">
              <a:alpha val="96000"/>
            </a:srgbClr>
          </a:solidFill>
          <a:ln w="15240">
            <a:solidFill>
              <a:srgbClr val="40E7D1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2679192"/>
            <a:ext cx="841248" cy="841248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9512" y="267919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1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718304" y="369417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Mindlogic 분석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45152" y="4096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4C7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근거 ↔ 직무 요건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70064" y="3355848"/>
            <a:ext cx="347472" cy="384048"/>
          </a:xfrm>
          <a:prstGeom prst="chevron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0416" y="2011680"/>
            <a:ext cx="3639312" cy="3154680"/>
          </a:xfrm>
          <a:prstGeom prst="roundRect">
            <a:avLst>
              <a:gd name="adj" fmla="val 4058"/>
            </a:avLst>
          </a:prstGeom>
          <a:solidFill>
            <a:srgbClr val="10213F">
              <a:alpha val="93000"/>
            </a:srgbClr>
          </a:solidFill>
          <a:ln w="12700">
            <a:solidFill>
              <a:srgbClr val="263B60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219456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83296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2176272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Career Fit Report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101584" y="2670048"/>
            <a:ext cx="323697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적합도 요약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스펙의 강점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역량과 우선순위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B6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실행할 준비 행동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1719072" y="5532120"/>
            <a:ext cx="8732520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11000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965960" y="56327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연락처·사진·첨부파일 제외  ·  공고가 없으면 일반 요건 기반이라는 가정 명시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FEATURE 3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기억나지 않는 프로젝트도 커밋이 역할을 말해줍니다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저장소와 GitHub 아이디만 입력하면 프로젝트 전체와 본인 기여를 구분해 분석합니다.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8A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66928" y="1865376"/>
            <a:ext cx="3657600" cy="3630168"/>
          </a:xfrm>
          <a:prstGeom prst="roundRect">
            <a:avLst>
              <a:gd name="adj" fmla="val 4534"/>
            </a:avLst>
          </a:prstGeom>
          <a:solidFill>
            <a:srgbClr val="101D38"/>
          </a:solidFill>
          <a:ln w="12700">
            <a:solidFill>
              <a:srgbClr val="101D3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39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" y="2633472"/>
            <a:ext cx="3072384" cy="557784"/>
          </a:xfrm>
          <a:prstGeom prst="roundRect">
            <a:avLst>
              <a:gd name="adj" fmla="val 13115"/>
            </a:avLst>
          </a:prstGeom>
          <a:solidFill>
            <a:srgbClr val="182846"/>
          </a:solidFill>
          <a:ln w="12700">
            <a:solidFill>
              <a:srgbClr val="18284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27706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github.com/team/project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3401568"/>
            <a:ext cx="3072384" cy="557784"/>
          </a:xfrm>
          <a:prstGeom prst="roundRect">
            <a:avLst>
              <a:gd name="adj" fmla="val 13115"/>
            </a:avLst>
          </a:prstGeom>
          <a:solidFill>
            <a:srgbClr val="182846"/>
          </a:solidFill>
          <a:ln w="12700">
            <a:solidFill>
              <a:srgbClr val="182846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35387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@my-github-id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" y="4279392"/>
            <a:ext cx="3072384" cy="603504"/>
          </a:xfrm>
          <a:prstGeom prst="roundRect">
            <a:avLst>
              <a:gd name="adj" fmla="val 13636"/>
            </a:avLst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443484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· 커밋 분석 시작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5152" y="1874520"/>
            <a:ext cx="3035808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2057400"/>
            <a:ext cx="384048" cy="384048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40096" y="203911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API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53288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저장소·언어·README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본인 커밋 수집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028432" y="1874520"/>
            <a:ext cx="3035808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2057400"/>
            <a:ext cx="384048" cy="384048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203911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추출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53288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파일과 patch로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작성한 코드 확인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645152" y="3730752"/>
            <a:ext cx="3035808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391363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340096" y="389534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38912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성격·기술·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역할·주요 활동 정리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028432" y="3730752"/>
            <a:ext cx="3035808" cy="1444752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3913632"/>
            <a:ext cx="384048" cy="384048"/>
          </a:xfrm>
          <a:prstGeom prst="ellipse">
            <a:avLst/>
          </a:prstGeom>
          <a:solidFill>
            <a:srgbClr val="E056FD"/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1131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723376" y="389534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완성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38912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프로젝트 칸에</a:t>
            </a:r>
            <a:endParaRPr lang="en-US" sz="9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채우고 저장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4645152" y="5687568"/>
            <a:ext cx="6419088" cy="347472"/>
          </a:xfrm>
          <a:prstGeom prst="roundRect">
            <a:avLst>
              <a:gd name="adj" fmla="val 23684"/>
            </a:avLst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573328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C4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결과는 프로젝트 상세에 보관되어 주요 활동과 함께 다시 확인할 수 있습니다.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2286000"/>
            <a:ext cx="6583680" cy="5577840"/>
          </a:xfrm>
          <a:prstGeom prst="ellipse">
            <a:avLst/>
          </a:prstGeom>
          <a:solidFill>
            <a:srgbClr val="4D7CFE">
              <a:alpha val="25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3108960"/>
            <a:ext cx="6949440" cy="5669280"/>
          </a:xfrm>
          <a:prstGeom prst="ellipse">
            <a:avLst/>
          </a:prstGeom>
          <a:solidFill>
            <a:srgbClr val="8B5CF6">
              <a:alpha val="2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011680"/>
            <a:ext cx="6217920" cy="4937760"/>
          </a:xfrm>
          <a:prstGeom prst="ellipse">
            <a:avLst/>
          </a:prstGeom>
          <a:solidFill>
            <a:srgbClr val="E056FD">
              <a:alpha val="17000"/>
            </a:srgbClr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389120"/>
            <a:ext cx="7223760" cy="4023360"/>
          </a:xfrm>
          <a:prstGeom prst="ellipse">
            <a:avLst/>
          </a:prstGeom>
          <a:solidFill>
            <a:srgbClr val="40E7D1">
              <a:alpha val="11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FEATURE 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쌓인 스펙은 기업 맞춤 지원서로 이어집니다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C2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기업·직무·공고·실제 문항을 입력하면 적합한 경험을 선별해 형식과 톤에 맞게 씁니다.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7383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7512" y="204825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83052">
              <a:alpha val="82000"/>
            </a:srgbClr>
          </a:solidFill>
          <a:ln w="12700">
            <a:solidFill>
              <a:srgbClr val="18305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" y="20574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D7C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기업·직무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148840" y="204825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83052">
              <a:alpha val="82000"/>
            </a:srgbClr>
          </a:solidFill>
          <a:ln w="12700">
            <a:solidFill>
              <a:srgbClr val="18305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03704" y="20574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채용공고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67512" y="25603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83052">
              <a:alpha val="82000"/>
            </a:srgbClr>
          </a:solidFill>
          <a:ln w="12700">
            <a:solidFill>
              <a:srgbClr val="18305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" y="25694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문항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2148840" y="25603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83052">
              <a:alpha val="82000"/>
            </a:srgbClr>
          </a:solidFill>
          <a:ln w="12700">
            <a:solidFill>
              <a:srgbClr val="18305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03704" y="25694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056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톤·분량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2304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189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133088" y="1938528"/>
            <a:ext cx="2267712" cy="1600200"/>
          </a:xfrm>
          <a:prstGeom prst="roundRect">
            <a:avLst>
              <a:gd name="adj" fmla="val 9714"/>
            </a:avLst>
          </a:prstGeom>
          <a:solidFill>
            <a:srgbClr val="142747">
              <a:alpha val="95000"/>
            </a:srgbClr>
          </a:solidFill>
          <a:ln w="13970">
            <a:solidFill>
              <a:srgbClr val="40E7D1">
                <a:alpha val="5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37176" y="2212848"/>
            <a:ext cx="832104" cy="832104"/>
          </a:xfrm>
          <a:prstGeom prst="ellipse">
            <a:avLst/>
          </a:prstGeom>
          <a:solidFill>
            <a:srgbClr val="40E7D1"/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37176" y="2212848"/>
            <a:ext cx="8321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1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89704" y="3200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경험 선별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56832" y="2542032"/>
            <a:ext cx="347472" cy="384048"/>
          </a:xfrm>
          <a:prstGeom prst="chevron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3488" y="1810512"/>
            <a:ext cx="4160520" cy="3639312"/>
          </a:xfrm>
          <a:prstGeom prst="roundRect">
            <a:avLst>
              <a:gd name="adj" fmla="val 4523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35240" y="20482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APPLICATION REPORT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24231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지원동기와 직무 역량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35240" y="2898648"/>
            <a:ext cx="3520440" cy="0"/>
          </a:xfrm>
          <a:prstGeom prst="line">
            <a:avLst/>
          </a:prstGeom>
          <a:noFill/>
          <a:ln w="10160">
            <a:solidFill>
              <a:srgbClr val="E3E8F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7635240" y="312724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등록한 프로젝트와 대외활동에서 직무와 연결되는 근거를 선택해 결론부터 작성합니다. 경험의 행동과 배운 점을 연결하고, 확인되지 않은 성과는 만들지 않습니다.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429768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90104" y="43068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6549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의도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8558784" y="42976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13648" y="4306824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D7C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포함 글자 수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9921240" y="429768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76104" y="4306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983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복사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4892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E5B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문항이 없으면 “AI 추정 양식”으로 명확히 표시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58368" y="5074920"/>
            <a:ext cx="5779008" cy="393192"/>
          </a:xfrm>
          <a:prstGeom prst="roundRect">
            <a:avLst>
              <a:gd name="adj" fmla="val 25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" y="5148072"/>
            <a:ext cx="5330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연락처·사진·PDF는 전송하지 않고 커리어 텍스트만 활용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BUILD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시작하고, 페이지와 책임을 명확히 분리했습니다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Node.js와 바닐라 JavaScript를 기반으로 빠르게 검증 가능한 해커톤 구조를 선택했습니다.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8A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1883664"/>
            <a:ext cx="3127248" cy="35844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83664"/>
            <a:ext cx="3127248" cy="502920"/>
          </a:xfrm>
          <a:prstGeom prst="roundRect">
            <a:avLst>
              <a:gd name="adj" fmla="val 32727"/>
            </a:avLst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01168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22960" y="2688336"/>
            <a:ext cx="292608" cy="292608"/>
          </a:xfrm>
          <a:prstGeom prst="ellipse">
            <a:avLst/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65176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300984"/>
            <a:ext cx="292608" cy="292608"/>
          </a:xfrm>
          <a:prstGeom prst="ellipse">
            <a:avLst/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26440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913632"/>
            <a:ext cx="292608" cy="292608"/>
          </a:xfrm>
          <a:prstGeom prst="ellipse">
            <a:avLst/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387705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Fit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292608" cy="292608"/>
          </a:xfrm>
          <a:prstGeom prst="ellipse">
            <a:avLst/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448970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9624" y="3447288"/>
            <a:ext cx="347472" cy="384048"/>
          </a:xfrm>
          <a:prstGeom prst="chevron">
            <a:avLst/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1883664"/>
            <a:ext cx="3127248" cy="35844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4528" y="1883664"/>
            <a:ext cx="3127248" cy="502920"/>
          </a:xfrm>
          <a:prstGeom prst="roundRect">
            <a:avLst>
              <a:gd name="adj" fmla="val 32727"/>
            </a:avLst>
          </a:prstGeom>
          <a:solidFill>
            <a:srgbClr val="40E7D1"/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201168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SERVER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453128" y="2688336"/>
            <a:ext cx="292608" cy="292608"/>
          </a:xfrm>
          <a:prstGeom prst="ellipse">
            <a:avLst/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53128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882896" y="265176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파일 제공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53128" y="3300984"/>
            <a:ext cx="292608" cy="292608"/>
          </a:xfrm>
          <a:prstGeom prst="ellipse">
            <a:avLst/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53128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4882896" y="326440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53128" y="3913632"/>
            <a:ext cx="292608" cy="292608"/>
          </a:xfrm>
          <a:prstGeom prst="ellipse">
            <a:avLst/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53128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882896" y="387705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Schema 응답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53128" y="4526280"/>
            <a:ext cx="292608" cy="292608"/>
          </a:xfrm>
          <a:prstGeom prst="ellipse">
            <a:avLst/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53128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882896" y="448970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필터링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79792" y="3447288"/>
            <a:ext cx="347472" cy="384048"/>
          </a:xfrm>
          <a:prstGeom prst="chevron">
            <a:avLst/>
          </a:prstGeom>
          <a:solidFill>
            <a:srgbClr val="40E7D1">
              <a:alpha val="90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5552" y="1883664"/>
            <a:ext cx="3127248" cy="35844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45552" y="1883664"/>
            <a:ext cx="3127248" cy="502920"/>
          </a:xfrm>
          <a:prstGeom prst="roundRect">
            <a:avLst>
              <a:gd name="adj" fmla="val 3272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55864" y="201168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AI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074152" y="2688336"/>
            <a:ext cx="292608" cy="292608"/>
          </a:xfrm>
          <a:prstGeom prst="ellipse">
            <a:avLst/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7415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265176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specs.json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74152" y="3300984"/>
            <a:ext cx="292608" cy="292608"/>
          </a:xfrm>
          <a:prstGeom prst="ellipse">
            <a:avLst/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74152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8503920" y="326440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REST API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74152" y="3913632"/>
            <a:ext cx="292608" cy="292608"/>
          </a:xfrm>
          <a:prstGeom prst="ellipse">
            <a:avLst/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74152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8503920" y="387705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Mindlogic Chat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74152" y="4526280"/>
            <a:ext cx="292608" cy="292608"/>
          </a:xfrm>
          <a:prstGeom prst="ellipse">
            <a:avLst/>
          </a:prstGeom>
          <a:solidFill>
            <a:srgbClr val="F1EDFF"/>
          </a:solidFill>
          <a:ln w="12700">
            <a:solidFill>
              <a:srgbClr val="F1EDFF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74152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8503920" y="448970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분석 프롬프트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298448" y="5797296"/>
            <a:ext cx="9582912" cy="347472"/>
          </a:xfrm>
          <a:prstGeom prst="roundRect">
            <a:avLst>
              <a:gd name="adj" fmla="val 26316"/>
            </a:avLst>
          </a:prstGeom>
          <a:solidFill>
            <a:srgbClr val="101D38"/>
          </a:solidFill>
          <a:ln w="12700">
            <a:solidFill>
              <a:srgbClr val="101D38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508760" y="584301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UI는 common.css/js  ·  기능별 HTML·CSS·JS 분리  ·  API 키는 서버 환경변수로만 관리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926080"/>
            <a:ext cx="6583680" cy="5577840"/>
          </a:xfrm>
          <a:prstGeom prst="ellipse">
            <a:avLst/>
          </a:prstGeom>
          <a:solidFill>
            <a:srgbClr val="40E7D1">
              <a:alpha val="58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-3108960"/>
            <a:ext cx="7132320" cy="548640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-1645920"/>
            <a:ext cx="5120640" cy="4389120"/>
          </a:xfrm>
          <a:prstGeom prst="ellipse">
            <a:avLst/>
          </a:prstGeom>
          <a:solidFill>
            <a:srgbClr val="4D7CFE">
              <a:alpha val="4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DIFFERENCE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Carrier는 문장을 대신 쓰기 전에, 근거를 먼저 복원합니다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기록 앱이나 단발성 생성형 AI가 놓치는 “경험의 연결성”이 핵심 차별점입니다.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8A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3346704" cy="336499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30428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FF3F8"/>
          </a:solidFill>
          <a:ln w="12700">
            <a:solidFill>
              <a:srgbClr val="EFF3F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231343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29260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368503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남지만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맥락으로 이어지지 않음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07992" y="2029968"/>
            <a:ext cx="3346704" cy="336499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4024" y="230428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FF3F8"/>
          </a:solidFill>
          <a:ln w="12700">
            <a:solidFill>
              <a:srgbClr val="EFF3F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18888" y="231343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84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9260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생성 AI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368503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맥락이 부족하면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다시 설명해야 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02752" y="2029968"/>
            <a:ext cx="3346704" cy="3364992"/>
          </a:xfrm>
          <a:prstGeom prst="roundRect">
            <a:avLst>
              <a:gd name="adj" fmla="val 5464"/>
            </a:avLst>
          </a:prstGeom>
          <a:solidFill>
            <a:srgbClr val="101D38"/>
          </a:solidFill>
          <a:ln w="12700">
            <a:solidFill>
              <a:srgbClr val="101D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8784" y="2304288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17335C">
              <a:alpha val="82000"/>
            </a:srgbClr>
          </a:solidFill>
          <a:ln w="12700">
            <a:solidFill>
              <a:srgbClr val="17335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13648" y="23134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분석 → 작성</a:t>
            </a:r>
            <a:endParaRPr lang="en-US" sz="840" dirty="0"/>
          </a:p>
        </p:txBody>
      </p:sp>
      <p:sp>
        <p:nvSpPr>
          <p:cNvPr id="22" name="Text 20"/>
          <p:cNvSpPr txBox="1"/>
          <p:nvPr/>
        </p:nvSpPr>
        <p:spPr>
          <a:xfrm>
            <a:off x="8558784" y="29260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Carrier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558784" y="368503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0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커리어 데이터가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0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지원 단계에서 재사용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58784" y="4782312"/>
            <a:ext cx="2798064" cy="356616"/>
          </a:xfrm>
          <a:prstGeom prst="roundRect">
            <a:avLst>
              <a:gd name="adj" fmla="val 23077"/>
            </a:avLst>
          </a:prstGeom>
          <a:solidFill>
            <a:srgbClr val="40E7D1">
              <a:alpha val="95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05088" y="48371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기반 커리어 루프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843016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“내가 뭘 했지?”에서 시작해 “이 경험으로 왜 이 직무에 맞는가”까지 한 번에.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2286000"/>
            <a:ext cx="6583680" cy="5577840"/>
          </a:xfrm>
          <a:prstGeom prst="ellipse">
            <a:avLst/>
          </a:prstGeom>
          <a:solidFill>
            <a:srgbClr val="4D7CFE">
              <a:alpha val="242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3108960"/>
            <a:ext cx="6949440" cy="5669280"/>
          </a:xfrm>
          <a:prstGeom prst="ellipse">
            <a:avLst/>
          </a:prstGeom>
          <a:solidFill>
            <a:srgbClr val="8B5CF6">
              <a:alpha val="202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011680"/>
            <a:ext cx="6217920" cy="4937760"/>
          </a:xfrm>
          <a:prstGeom prst="ellipse">
            <a:avLst/>
          </a:prstGeom>
          <a:solidFill>
            <a:srgbClr val="E056FD">
              <a:alpha val="16200"/>
            </a:srgbClr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389120"/>
            <a:ext cx="7223760" cy="4023360"/>
          </a:xfrm>
          <a:prstGeom prst="ellipse">
            <a:avLst/>
          </a:prstGeom>
          <a:solidFill>
            <a:srgbClr val="40E7D1">
              <a:alpha val="102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IMPACT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준비의 시간을 줄이고, 경험의 설득력을 높입니다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C2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성과는 서비스 운영 이후 검증하고, 지금은 사용자 행동의 변화를 목표로 합니다.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7383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011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시간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1901952"/>
            <a:ext cx="3310128" cy="621792"/>
          </a:xfrm>
          <a:prstGeom prst="roundRect">
            <a:avLst>
              <a:gd name="adj" fmla="val 17647"/>
            </a:avLst>
          </a:prstGeom>
          <a:solidFill>
            <a:srgbClr val="142442">
              <a:alpha val="95000"/>
            </a:srgbClr>
          </a:solidFill>
          <a:ln w="12700">
            <a:solidFill>
              <a:srgbClr val="14244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2029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파일 탐색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9552" y="2011680"/>
            <a:ext cx="347472" cy="384048"/>
          </a:xfrm>
          <a:prstGeom prst="chevron">
            <a:avLst/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901952"/>
            <a:ext cx="5248656" cy="621792"/>
          </a:xfrm>
          <a:prstGeom prst="roundRect">
            <a:avLst>
              <a:gd name="adj" fmla="val 17647"/>
            </a:avLst>
          </a:prstGeom>
          <a:solidFill>
            <a:srgbClr val="4D7CFE">
              <a:alpha val="22000"/>
            </a:srgbClr>
          </a:solidFill>
          <a:ln w="11430">
            <a:solidFill>
              <a:srgbClr val="4D7CFE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0299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스펙 재사용</a:t>
            </a:r>
            <a:endParaRPr lang="en-US" sz="104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2999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회고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2889504"/>
            <a:ext cx="3310128" cy="621792"/>
          </a:xfrm>
          <a:prstGeom prst="roundRect">
            <a:avLst>
              <a:gd name="adj" fmla="val 17647"/>
            </a:avLst>
          </a:prstGeom>
          <a:solidFill>
            <a:srgbClr val="142442">
              <a:alpha val="95000"/>
            </a:srgbClr>
          </a:solidFill>
          <a:ln w="12700">
            <a:solidFill>
              <a:srgbClr val="14244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40280" y="30175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기억에 의존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59552" y="2999232"/>
            <a:ext cx="347472" cy="384048"/>
          </a:xfrm>
          <a:prstGeom prst="chevron">
            <a:avLst/>
          </a:prstGeom>
          <a:solidFill>
            <a:srgbClr val="40E7D1">
              <a:alpha val="90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2889504"/>
            <a:ext cx="5248656" cy="621792"/>
          </a:xfrm>
          <a:prstGeom prst="roundRect">
            <a:avLst>
              <a:gd name="adj" fmla="val 17647"/>
            </a:avLst>
          </a:prstGeom>
          <a:solidFill>
            <a:srgbClr val="40E7D1">
              <a:alpha val="22000"/>
            </a:srgbClr>
          </a:solidFill>
          <a:ln w="11430">
            <a:solidFill>
              <a:srgbClr val="40E7D1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3017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근거로 역할 복원</a:t>
            </a:r>
            <a:endParaRPr lang="en-US" sz="104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986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준비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3877056"/>
            <a:ext cx="3310128" cy="621792"/>
          </a:xfrm>
          <a:prstGeom prst="roundRect">
            <a:avLst>
              <a:gd name="adj" fmla="val 17647"/>
            </a:avLst>
          </a:prstGeom>
          <a:solidFill>
            <a:srgbClr val="142442">
              <a:alpha val="95000"/>
            </a:srgbClr>
          </a:solidFill>
          <a:ln w="12700">
            <a:solidFill>
              <a:srgbClr val="142442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40280" y="40050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스펙 쌓기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59552" y="3986784"/>
            <a:ext cx="347472" cy="384048"/>
          </a:xfrm>
          <a:prstGeom prst="chevron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3877056"/>
            <a:ext cx="5248656" cy="621792"/>
          </a:xfrm>
          <a:prstGeom prst="roundRect">
            <a:avLst>
              <a:gd name="adj" fmla="val 17647"/>
            </a:avLst>
          </a:prstGeom>
          <a:solidFill>
            <a:srgbClr val="8B5CF6">
              <a:alpha val="22000"/>
            </a:srgbClr>
          </a:solidFill>
          <a:ln w="1143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40050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강점·공백·우선순위 확인</a:t>
            </a:r>
            <a:endParaRPr lang="en-US" sz="104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9743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지원서 작성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4864608"/>
            <a:ext cx="3310128" cy="621792"/>
          </a:xfrm>
          <a:prstGeom prst="roundRect">
            <a:avLst>
              <a:gd name="adj" fmla="val 17647"/>
            </a:avLst>
          </a:prstGeom>
          <a:solidFill>
            <a:srgbClr val="142442">
              <a:alpha val="95000"/>
            </a:srgbClr>
          </a:solidFill>
          <a:ln w="12700">
            <a:solidFill>
              <a:srgbClr val="14244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40280" y="49926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처음부터 작성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59552" y="4974336"/>
            <a:ext cx="347472" cy="384048"/>
          </a:xfrm>
          <a:prstGeom prst="chevron">
            <a:avLst/>
          </a:prstGeom>
          <a:solidFill>
            <a:srgbClr val="E056FD">
              <a:alpha val="90000"/>
            </a:srgbClr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44768" y="4864608"/>
            <a:ext cx="5248656" cy="621792"/>
          </a:xfrm>
          <a:prstGeom prst="roundRect">
            <a:avLst>
              <a:gd name="adj" fmla="val 17647"/>
            </a:avLst>
          </a:prstGeom>
          <a:solidFill>
            <a:srgbClr val="E056FD">
              <a:alpha val="22000"/>
            </a:srgbClr>
          </a:solidFill>
          <a:ln w="11430">
            <a:solidFill>
              <a:srgbClr val="E056FD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82512" y="49926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맞춤 초안에서 시작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1097280" y="5907024"/>
            <a:ext cx="9985248" cy="228600"/>
          </a:xfrm>
          <a:prstGeom prst="roundRect">
            <a:avLst>
              <a:gd name="adj" fmla="val 40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325880" y="5916168"/>
            <a:ext cx="9528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VALIDATION  ·  지원서 작성 소요 시간  ·  생성 초안 채택률  ·  재방문율  ·  면접 전환 경험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BUSINESS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기능은 무료로, 문맥형 광고로 지속 가능하게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E8B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Ads 광고 수요를 AdSense로 연결하되 커리어 원문은 광고 타기팅에 사용하지 않습니다.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8A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703320" cy="3703320"/>
          </a:xfrm>
          <a:prstGeom prst="roundRect">
            <a:avLst>
              <a:gd name="adj" fmla="val 4938"/>
            </a:avLst>
          </a:prstGeom>
          <a:solidFill>
            <a:srgbClr val="101D38"/>
          </a:solidFill>
          <a:ln w="12700">
            <a:solidFill>
              <a:srgbClr val="101D3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2402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CORE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743200"/>
            <a:ext cx="2834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장벽 없이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커리어를 계속 쌓게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4151376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5C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관리 · 기업 분석 · 프로젝트 분석 · 지원서 초안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41832" y="505663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9325A">
              <a:alpha val="82000"/>
            </a:srgbClr>
          </a:solidFill>
          <a:ln w="12700">
            <a:solidFill>
              <a:srgbClr val="19325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6696" y="5065776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 확보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544568" y="3493008"/>
            <a:ext cx="347472" cy="384048"/>
          </a:xfrm>
          <a:prstGeom prst="chevron">
            <a:avLst/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2352" y="1920240"/>
            <a:ext cx="6355080" cy="370332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31536" y="2221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D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AdSense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25712" y="224028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2700">
            <a:solidFill>
              <a:srgbClr val="EDF4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0576" y="22494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D7C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Ads 수요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440680" y="2944368"/>
            <a:ext cx="310896" cy="310896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916168" y="28986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287121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하단 · 분석 리포트 종료 지점 등 흐름을 방해하지 않는 영역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440680" y="3657600"/>
            <a:ext cx="310896" cy="310896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916168" y="3611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35844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· 교육 · 생산성 도구 · 취업 준비 등 페이지 주제 기반 광고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5440680" y="4370832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916168" y="43251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D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42976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36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연락처·스펙 원문·AI 대화 내용을 광고 개인화 데이터로 전달하지 않음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5440680" y="5212080"/>
            <a:ext cx="5422392" cy="237744"/>
          </a:xfrm>
          <a:prstGeom prst="roundRect">
            <a:avLst>
              <a:gd name="adj" fmla="val 30769"/>
            </a:avLst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32704" y="5212080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7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수익보다 신뢰가 먼저: 광고 밀도와 위치를 A/B 테스트로 관리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693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2286000"/>
            <a:ext cx="6583680" cy="5577840"/>
          </a:xfrm>
          <a:prstGeom prst="ellipse">
            <a:avLst/>
          </a:prstGeom>
          <a:solidFill>
            <a:srgbClr val="4D7CFE">
              <a:alpha val="268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3108960"/>
            <a:ext cx="6949440" cy="5669280"/>
          </a:xfrm>
          <a:prstGeom prst="ellipse">
            <a:avLst/>
          </a:prstGeom>
          <a:solidFill>
            <a:srgbClr val="8B5CF6">
              <a:alpha val="228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011680"/>
            <a:ext cx="6217920" cy="4937760"/>
          </a:xfrm>
          <a:prstGeom prst="ellipse">
            <a:avLst/>
          </a:prstGeom>
          <a:solidFill>
            <a:srgbClr val="E056FD">
              <a:alpha val="18800"/>
            </a:srgbClr>
          </a:solidFill>
          <a:ln w="12700">
            <a:solidFill>
              <a:srgbClr val="E056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389120"/>
            <a:ext cx="7223760" cy="4023360"/>
          </a:xfrm>
          <a:prstGeom prst="ellipse">
            <a:avLst/>
          </a:prstGeom>
          <a:solidFill>
            <a:srgbClr val="40E7D1">
              <a:alpha val="128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40E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NEXT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658368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Carrier가 개인의 커리어 운영체제로 성장하는 길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C2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해커톤 MVP에서 데이터 신뢰도, 자동화, 장기 커리어 관리로 확장합니다.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7383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· AM:PM 8TH HACKATHON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3232" y="1847088"/>
            <a:ext cx="3291840" cy="2532888"/>
          </a:xfrm>
          <a:prstGeom prst="roundRect">
            <a:avLst>
              <a:gd name="adj" fmla="val 6859"/>
            </a:avLst>
          </a:prstGeom>
          <a:solidFill>
            <a:srgbClr val="10213F">
              <a:alpha val="95000"/>
            </a:srgbClr>
          </a:solidFill>
          <a:ln w="12700">
            <a:solidFill>
              <a:srgbClr val="4D7CFE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12140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A3158">
              <a:alpha val="82000"/>
            </a:srgbClr>
          </a:solidFill>
          <a:ln w="12700">
            <a:solidFill>
              <a:srgbClr val="1A315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2130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D7C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7614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검증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4015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6C4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통합 관리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6C4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기업·GitHub·지원서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23944" y="2880360"/>
            <a:ext cx="347472" cy="384048"/>
          </a:xfrm>
          <a:prstGeom prst="chevron">
            <a:avLst/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9704" y="1847088"/>
            <a:ext cx="3291840" cy="2532888"/>
          </a:xfrm>
          <a:prstGeom prst="roundRect">
            <a:avLst>
              <a:gd name="adj" fmla="val 6859"/>
            </a:avLst>
          </a:prstGeom>
          <a:solidFill>
            <a:srgbClr val="10213F">
              <a:alpha val="95000"/>
            </a:srgbClr>
          </a:solidFill>
          <a:ln w="12700">
            <a:solidFill>
              <a:srgbClr val="40E7D1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12140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A3158">
              <a:alpha val="82000"/>
            </a:srgbClr>
          </a:solidFill>
          <a:ln w="12700">
            <a:solidFill>
              <a:srgbClr val="1A315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2130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4745736" y="27614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강화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745736" y="34015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6C4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 수집·버전 관리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6C4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이력서·포트폴리오 내보내기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0416" y="2880360"/>
            <a:ext cx="347472" cy="384048"/>
          </a:xfrm>
          <a:prstGeom prst="chevron">
            <a:avLst/>
          </a:prstGeom>
          <a:solidFill>
            <a:srgbClr val="40E7D1">
              <a:alpha val="90000"/>
            </a:srgbClr>
          </a:solidFill>
          <a:ln w="12700">
            <a:solidFill>
              <a:srgbClr val="40E7D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6176" y="1847088"/>
            <a:ext cx="3291840" cy="2532888"/>
          </a:xfrm>
          <a:prstGeom prst="roundRect">
            <a:avLst>
              <a:gd name="adj" fmla="val 6859"/>
            </a:avLst>
          </a:prstGeom>
          <a:solidFill>
            <a:srgbClr val="10213F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12140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A3158">
              <a:alpha val="82000"/>
            </a:srgbClr>
          </a:solidFill>
          <a:ln w="12700">
            <a:solidFill>
              <a:srgbClr val="1A315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77072" y="2130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LATER</a:t>
            </a:r>
            <a:endParaRPr lang="en-US" sz="840" dirty="0"/>
          </a:p>
        </p:txBody>
      </p:sp>
      <p:sp>
        <p:nvSpPr>
          <p:cNvPr id="25" name="Text 23"/>
          <p:cNvSpPr txBox="1"/>
          <p:nvPr/>
        </p:nvSpPr>
        <p:spPr>
          <a:xfrm>
            <a:off x="8522208" y="27614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커리어 에이전트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522208" y="34015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6C4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마감·준비 일정 추천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6C4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기반 개인화 코칭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5029200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쌓일수록, 다음 선택은 더 선명해집니다.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5696712"/>
            <a:ext cx="10222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E7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당신의 커리어를, Carrier에.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AM:PM 8th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Carrier — 커리어를 캐리어에 담다</dc:title>
  <dc:subject>AI 커리어 관리 서비스 Carrier 발표자료</dc:subject>
  <dc:creator>Carrier Team</dc:creator>
  <cp:lastModifiedBy>Carrier Team</cp:lastModifiedBy>
  <cp:revision>1</cp:revision>
  <dcterms:created xsi:type="dcterms:W3CDTF">2026-09-18T18:15:09Z</dcterms:created>
  <dcterms:modified xsi:type="dcterms:W3CDTF">2026-09-18T18:15:09Z</dcterms:modified>
</cp:coreProperties>
</file>